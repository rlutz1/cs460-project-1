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87997393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8799739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f87997393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f87997393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87997393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f87997393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87997393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f87997393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6" l="20992" r="40113" t="2691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8" l="14010" r="43290" t="35834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5" r="30475" t="11956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4.jpg"/><Relationship Id="rId5" Type="http://schemas.openxmlformats.org/officeDocument/2006/relationships/image" Target="../media/image14.jpg"/><Relationship Id="rId6" Type="http://schemas.openxmlformats.org/officeDocument/2006/relationships/image" Target="../media/image5.jpg"/><Relationship Id="rId7" Type="http://schemas.openxmlformats.org/officeDocument/2006/relationships/image" Target="../media/image2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ctrTitle"/>
          </p:nvPr>
        </p:nvSpPr>
        <p:spPr>
          <a:xfrm>
            <a:off x="3528450" y="1186100"/>
            <a:ext cx="5017500" cy="20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</a:rPr>
              <a:t>Parking </a:t>
            </a:r>
            <a:r>
              <a:rPr b="1" lang="en-GB">
                <a:solidFill>
                  <a:srgbClr val="FFFF00"/>
                </a:solidFill>
              </a:rPr>
              <a:t>Management</a:t>
            </a:r>
            <a:r>
              <a:rPr b="1" lang="en-GB">
                <a:solidFill>
                  <a:srgbClr val="FFFF00"/>
                </a:solidFill>
              </a:rPr>
              <a:t> System (PMS)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</a:rPr>
              <a:t>T09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229" name="Google Shape;229;p17"/>
          <p:cNvSpPr txBox="1"/>
          <p:nvPr>
            <p:ph idx="1" type="subTitle"/>
          </p:nvPr>
        </p:nvSpPr>
        <p:spPr>
          <a:xfrm>
            <a:off x="5673300" y="344545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</a:rPr>
              <a:t>Roxanne Krause (Manager)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</a:rPr>
              <a:t>Eliud Garcia Reza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0"/>
                </a:solidFill>
              </a:rPr>
              <a:t>Ayman Hassen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-GB">
                <a:solidFill>
                  <a:srgbClr val="FFFF00"/>
                </a:solidFill>
              </a:rPr>
              <a:t>Gabriel Ramirez</a:t>
            </a:r>
            <a:endParaRPr b="1">
              <a:solidFill>
                <a:srgbClr val="FFFF00"/>
              </a:solidFill>
            </a:endParaRPr>
          </a:p>
        </p:txBody>
      </p:sp>
      <p:pic>
        <p:nvPicPr>
          <p:cNvPr descr="a sign that says parking lot on it with cars on it (Provided by Tenor)" id="230" name="Google Shape;23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700" y="1884775"/>
            <a:ext cx="2768250" cy="27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title"/>
          </p:nvPr>
        </p:nvSpPr>
        <p:spPr>
          <a:xfrm>
            <a:off x="1245200" y="79900"/>
            <a:ext cx="70389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Objectives</a:t>
            </a:r>
            <a:endParaRPr b="1"/>
          </a:p>
        </p:txBody>
      </p:sp>
      <p:sp>
        <p:nvSpPr>
          <p:cNvPr id="236" name="Google Shape;236;p18"/>
          <p:cNvSpPr txBox="1"/>
          <p:nvPr/>
        </p:nvSpPr>
        <p:spPr>
          <a:xfrm>
            <a:off x="1297500" y="889369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37" name="Google Shape;237;p18"/>
          <p:cNvSpPr txBox="1"/>
          <p:nvPr>
            <p:ph idx="1" type="body"/>
          </p:nvPr>
        </p:nvSpPr>
        <p:spPr>
          <a:xfrm>
            <a:off x="1951950" y="763625"/>
            <a:ext cx="5877300" cy="13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Promote Efficient Parking Spot Searches</a:t>
            </a:r>
            <a:endParaRPr b="1" sz="18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➔"/>
            </a:pPr>
            <a:r>
              <a:rPr lang="en-GB" sz="1600"/>
              <a:t>Provides real-time parking availability.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-GB" sz="1600"/>
              <a:t>Reduces cost barriers and controls system access.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8" name="Google Shape;238;p18"/>
          <p:cNvSpPr txBox="1"/>
          <p:nvPr/>
        </p:nvSpPr>
        <p:spPr>
          <a:xfrm>
            <a:off x="1297500" y="2427531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39" name="Google Shape;239;p18"/>
          <p:cNvSpPr txBox="1"/>
          <p:nvPr>
            <p:ph idx="1" type="body"/>
          </p:nvPr>
        </p:nvSpPr>
        <p:spPr>
          <a:xfrm>
            <a:off x="2030400" y="2295786"/>
            <a:ext cx="5877300" cy="15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Consistent and Accurate Space Tracking </a:t>
            </a:r>
            <a:endParaRPr b="1" sz="18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➔"/>
            </a:pPr>
            <a:r>
              <a:rPr lang="en-GB" sz="1600"/>
              <a:t>Updates drivers on vehicle activity in the structure.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-GB" sz="1600"/>
              <a:t>Shows different parking spot types for informed choices.</a:t>
            </a:r>
            <a:endParaRPr sz="1600"/>
          </a:p>
        </p:txBody>
      </p:sp>
      <p:sp>
        <p:nvSpPr>
          <p:cNvPr id="240" name="Google Shape;240;p18"/>
          <p:cNvSpPr txBox="1"/>
          <p:nvPr/>
        </p:nvSpPr>
        <p:spPr>
          <a:xfrm>
            <a:off x="1297500" y="3738969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1" name="Google Shape;241;p18"/>
          <p:cNvSpPr txBox="1"/>
          <p:nvPr>
            <p:ph idx="1" type="body"/>
          </p:nvPr>
        </p:nvSpPr>
        <p:spPr>
          <a:xfrm>
            <a:off x="2030400" y="3738975"/>
            <a:ext cx="6957600" cy="12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Administrative Access</a:t>
            </a:r>
            <a:endParaRPr b="1" sz="18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➔"/>
            </a:pPr>
            <a:r>
              <a:rPr lang="en-GB" sz="1600"/>
              <a:t>Allows admins to manage the system and communicate with drivers.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type="title"/>
          </p:nvPr>
        </p:nvSpPr>
        <p:spPr>
          <a:xfrm>
            <a:off x="1306225" y="550675"/>
            <a:ext cx="70389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Capabilities For The PMS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25" y="1265101"/>
            <a:ext cx="732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8" name="Google Shape;248;p19"/>
          <p:cNvSpPr txBox="1"/>
          <p:nvPr>
            <p:ph idx="1" type="body"/>
          </p:nvPr>
        </p:nvSpPr>
        <p:spPr>
          <a:xfrm>
            <a:off x="432700" y="1571350"/>
            <a:ext cx="2974500" cy="3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Real-Time Update Capabilities</a:t>
            </a:r>
            <a:endParaRPr b="1" sz="16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Displays availability by lot and by floor.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Updates availability automatically via parking sensors (entrance + each floor).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Updates in-transit counts automatically via entry/exit sensors.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9" name="Google Shape;249;p19"/>
          <p:cNvSpPr txBox="1"/>
          <p:nvPr/>
        </p:nvSpPr>
        <p:spPr>
          <a:xfrm>
            <a:off x="3187250" y="1265100"/>
            <a:ext cx="7329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50" name="Google Shape;250;p19"/>
          <p:cNvSpPr txBox="1"/>
          <p:nvPr>
            <p:ph idx="1" type="body"/>
          </p:nvPr>
        </p:nvSpPr>
        <p:spPr>
          <a:xfrm>
            <a:off x="3670125" y="1571350"/>
            <a:ext cx="29745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Pedestrian and Vehicle Differentiation Capabilities</a:t>
            </a:r>
            <a:endParaRPr b="1" sz="16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Spot sensors detect vehicle type (motorcycle vs. standard).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Spot sensors distinguish vehicles from pedestrians to mark occupancy.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Entry/exit gates detect vehicles only.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1" name="Google Shape;251;p19"/>
          <p:cNvSpPr txBox="1"/>
          <p:nvPr/>
        </p:nvSpPr>
        <p:spPr>
          <a:xfrm>
            <a:off x="6078800" y="126509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52" name="Google Shape;252;p19"/>
          <p:cNvSpPr txBox="1"/>
          <p:nvPr>
            <p:ph idx="1" type="body"/>
          </p:nvPr>
        </p:nvSpPr>
        <p:spPr>
          <a:xfrm>
            <a:off x="6545425" y="1571350"/>
            <a:ext cx="2598900" cy="3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Adaptable System Configuration Capabilities</a:t>
            </a:r>
            <a:endParaRPr b="1" sz="16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➔"/>
            </a:pPr>
            <a:r>
              <a:rPr lang="en-GB" sz="1400"/>
              <a:t>Admins can configure sensors for vehicle-type detection.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➔"/>
            </a:pPr>
            <a:r>
              <a:rPr lang="en-GB" sz="1400"/>
              <a:t>Admins can customize availability displays by spot type with clear symbols.</a:t>
            </a:r>
            <a:r>
              <a:rPr i="1" lang="en-GB" sz="1200"/>
              <a:t>	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pic>
        <p:nvPicPr>
          <p:cNvPr descr="a red and white parking sign with an arrow pointing to the right (Provided by Tenor)" id="253" name="Google Shape;2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1500" y="0"/>
            <a:ext cx="3172500" cy="13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/>
          <p:nvPr>
            <p:ph type="title"/>
          </p:nvPr>
        </p:nvSpPr>
        <p:spPr>
          <a:xfrm>
            <a:off x="1280050" y="168225"/>
            <a:ext cx="7038900" cy="5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ato"/>
                <a:ea typeface="Lato"/>
                <a:cs typeface="Lato"/>
                <a:sym typeface="Lato"/>
              </a:rPr>
              <a:t>OMT Objectives with Dynamic Behavior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9" name="Google Shape;259;p20"/>
          <p:cNvPicPr preferRelativeResize="0"/>
          <p:nvPr/>
        </p:nvPicPr>
        <p:blipFill rotWithShape="1">
          <a:blip r:embed="rId3">
            <a:alphaModFix/>
          </a:blip>
          <a:srcRect b="42631" l="0" r="0" t="0"/>
          <a:stretch/>
        </p:blipFill>
        <p:spPr>
          <a:xfrm>
            <a:off x="0" y="1082325"/>
            <a:ext cx="3500200" cy="35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63700" y="4691975"/>
            <a:ext cx="3436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i="1" lang="en-GB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Entrance Gate Dynamic Diagram</a:t>
            </a:r>
            <a:endParaRPr b="1"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59562"/>
          <a:stretch/>
        </p:blipFill>
        <p:spPr>
          <a:xfrm>
            <a:off x="4865325" y="1122375"/>
            <a:ext cx="4157675" cy="35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5423400" y="4691975"/>
            <a:ext cx="3436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Exit Gate Dynamic Diagram</a:t>
            </a:r>
            <a:endParaRPr b="1"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pixel art drawing of a white car with yellow wheels on a white background . (Provided by Tenor)" id="263" name="Google Shape;2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1750" y="1413250"/>
            <a:ext cx="142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xel art drawing of a white car with yellow wheels on a white background . (Provided by Tenor)" id="264" name="Google Shape;2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0200" y="2571750"/>
            <a:ext cx="142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xel art drawing of a white car with yellow wheels on a white background . (Provided by Tenor)" id="265" name="Google Shape;2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6575" y="3730250"/>
            <a:ext cx="14287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blic parking sign in parking garage (Provided by Getty Images)" id="270" name="Google Shape;270;p21"/>
          <p:cNvPicPr preferRelativeResize="0"/>
          <p:nvPr/>
        </p:nvPicPr>
        <p:blipFill rotWithShape="1">
          <a:blip r:embed="rId3">
            <a:alphaModFix/>
          </a:blip>
          <a:srcRect b="-47400" l="23267" r="10839" t="47400"/>
          <a:stretch/>
        </p:blipFill>
        <p:spPr>
          <a:xfrm rot="-5400000">
            <a:off x="5710147" y="2704980"/>
            <a:ext cx="2431500" cy="24360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pic>
        <p:nvPicPr>
          <p:cNvPr descr="Parking garage (Provided by Getty Images)" id="271" name="Google Shape;271;p21"/>
          <p:cNvPicPr preferRelativeResize="0"/>
          <p:nvPr/>
        </p:nvPicPr>
        <p:blipFill rotWithShape="1">
          <a:blip r:embed="rId4">
            <a:alphaModFix/>
          </a:blip>
          <a:srcRect b="0" l="17226" r="17226" t="0"/>
          <a:stretch/>
        </p:blipFill>
        <p:spPr>
          <a:xfrm rot="-5400000">
            <a:off x="5718946" y="1338207"/>
            <a:ext cx="2504700" cy="25095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pic>
        <p:nvPicPr>
          <p:cNvPr descr="File:Spiral Parking Garage Ramp, John Hancock Center, Michigan ..." id="272" name="Google Shape;272;p21"/>
          <p:cNvPicPr preferRelativeResize="0"/>
          <p:nvPr/>
        </p:nvPicPr>
        <p:blipFill rotWithShape="1">
          <a:blip r:embed="rId5">
            <a:alphaModFix/>
          </a:blip>
          <a:srcRect b="12447" l="-10156" r="0" t="7508"/>
          <a:stretch/>
        </p:blipFill>
        <p:spPr>
          <a:xfrm rot="5400000">
            <a:off x="6429849" y="2079675"/>
            <a:ext cx="2759100" cy="2675100"/>
          </a:xfrm>
          <a:prstGeom prst="diagStripe">
            <a:avLst>
              <a:gd fmla="val 50445" name="adj"/>
            </a:avLst>
          </a:prstGeom>
          <a:noFill/>
          <a:ln>
            <a:noFill/>
          </a:ln>
        </p:spPr>
      </p:pic>
      <p:pic>
        <p:nvPicPr>
          <p:cNvPr id="273" name="Google Shape;273;p21"/>
          <p:cNvPicPr preferRelativeResize="0"/>
          <p:nvPr/>
        </p:nvPicPr>
        <p:blipFill rotWithShape="1">
          <a:blip r:embed="rId6">
            <a:alphaModFix/>
          </a:blip>
          <a:srcRect b="80" l="0" r="0" t="80"/>
          <a:stretch/>
        </p:blipFill>
        <p:spPr>
          <a:xfrm>
            <a:off x="438225" y="1340600"/>
            <a:ext cx="5269675" cy="340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quare with a white letter p inside (Provided by Tenor)" id="274" name="Google Shape;27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64122" y="4214650"/>
            <a:ext cx="928851" cy="92885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 txBox="1"/>
          <p:nvPr>
            <p:ph type="title"/>
          </p:nvPr>
        </p:nvSpPr>
        <p:spPr>
          <a:xfrm>
            <a:off x="1280050" y="346525"/>
            <a:ext cx="7038900" cy="5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GB">
                <a:latin typeface="Lato"/>
                <a:ea typeface="Lato"/>
                <a:cs typeface="Lato"/>
                <a:sym typeface="Lato"/>
              </a:rPr>
              <a:t>Parking Spot Dynamic Diagram</a:t>
            </a:r>
            <a:endParaRPr sz="3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2"/>
          <p:cNvGrpSpPr/>
          <p:nvPr/>
        </p:nvGrpSpPr>
        <p:grpSpPr>
          <a:xfrm>
            <a:off x="1137976" y="222130"/>
            <a:ext cx="6725102" cy="4400853"/>
            <a:chOff x="3489825" y="1659890"/>
            <a:chExt cx="3524317" cy="2669448"/>
          </a:xfrm>
        </p:grpSpPr>
        <p:sp>
          <p:nvSpPr>
            <p:cNvPr id="281" name="Google Shape;281;p22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E7E7E7"/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5"/>
            </a:p>
          </p:txBody>
        </p:sp>
        <p:sp>
          <p:nvSpPr>
            <p:cNvPr id="282" name="Google Shape;282;p22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39"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489825" y="1659890"/>
              <a:ext cx="3524100" cy="2227200"/>
            </a:xfrm>
            <a:prstGeom prst="roundRect">
              <a:avLst>
                <a:gd fmla="val 176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5"/>
            </a:p>
          </p:txBody>
        </p:sp>
      </p:grpSp>
      <p:pic>
        <p:nvPicPr>
          <p:cNvPr id="289" name="Google Shape;2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975" y="222125"/>
            <a:ext cx="6725101" cy="33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2581500" y="3557600"/>
            <a:ext cx="3981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PMS Software Architecture Overview</a:t>
            </a:r>
            <a:endParaRPr b="1"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cartoon illustration of a ghostbusters vehicle (Provided by Tenor)" id="291" name="Google Shape;2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91301"/>
            <a:ext cx="1754000" cy="167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